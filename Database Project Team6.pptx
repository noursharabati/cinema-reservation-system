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Work Sans Bold" charset="1" panose="00000000000000000000"/>
      <p:regular r:id="rId23"/>
    </p:embeddedFont>
    <p:embeddedFont>
      <p:font typeface="Lovelace Bold" charset="1" panose="00000700000000000000"/>
      <p:regular r:id="rId24"/>
    </p:embeddedFont>
    <p:embeddedFont>
      <p:font typeface="Work Sans" charset="1" panose="00000000000000000000"/>
      <p:regular r:id="rId25"/>
    </p:embeddedFont>
    <p:embeddedFont>
      <p:font typeface="Lovelace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974" r="0" b="-784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1551" y="430365"/>
            <a:ext cx="1917749" cy="598335"/>
            <a:chOff x="0" y="0"/>
            <a:chExt cx="869655" cy="27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655" cy="271331"/>
            </a:xfrm>
            <a:custGeom>
              <a:avLst/>
              <a:gdLst/>
              <a:ahLst/>
              <a:cxnLst/>
              <a:rect r="r" b="b" t="t" l="l"/>
              <a:pathLst>
                <a:path h="271331" w="869655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64434" y="8659965"/>
            <a:ext cx="2399617" cy="598335"/>
            <a:chOff x="0" y="0"/>
            <a:chExt cx="1088172" cy="271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172" cy="271331"/>
            </a:xfrm>
            <a:custGeom>
              <a:avLst/>
              <a:gdLst/>
              <a:ahLst/>
              <a:cxnLst/>
              <a:rect r="r" b="b" t="t" l="l"/>
              <a:pathLst>
                <a:path h="271331" w="1088172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36609" y="8659965"/>
            <a:ext cx="608562" cy="598335"/>
            <a:chOff x="0" y="0"/>
            <a:chExt cx="275969" cy="271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9" cy="271331"/>
            </a:xfrm>
            <a:custGeom>
              <a:avLst/>
              <a:gdLst/>
              <a:ahLst/>
              <a:cxnLst/>
              <a:rect r="r" b="b" t="t" l="l"/>
              <a:pathLst>
                <a:path h="271331" w="275969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79843" y="7528928"/>
            <a:ext cx="6131555" cy="209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401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Dr . we'am adel mahmoud talafha</a:t>
            </a:r>
          </a:p>
          <a:p>
            <a:pPr algn="l">
              <a:lnSpc>
                <a:spcPts val="3362"/>
              </a:lnSpc>
            </a:pPr>
            <a:r>
              <a:rPr lang="en-US" sz="2401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Noor Diab Omar Al Sharabati</a:t>
            </a:r>
          </a:p>
          <a:p>
            <a:pPr algn="l">
              <a:lnSpc>
                <a:spcPts val="3362"/>
              </a:lnSpc>
            </a:pPr>
            <a:r>
              <a:rPr lang="en-US" sz="2401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Malak Husam Mohammed Naji Alshalabi</a:t>
            </a:r>
          </a:p>
          <a:p>
            <a:pPr algn="l">
              <a:lnSpc>
                <a:spcPts val="3362"/>
              </a:lnSpc>
            </a:pPr>
            <a:r>
              <a:rPr lang="en-US" sz="2401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Raneem Waddah Mahmoud Tumar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8726502">
            <a:off x="17202081" y="8845309"/>
            <a:ext cx="277618" cy="227646"/>
          </a:xfrm>
          <a:custGeom>
            <a:avLst/>
            <a:gdLst/>
            <a:ahLst/>
            <a:cxnLst/>
            <a:rect r="r" b="b" t="t" l="l"/>
            <a:pathLst>
              <a:path h="227646" w="277618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50566" y="2828757"/>
            <a:ext cx="14882993" cy="438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31"/>
              </a:lnSpc>
              <a:spcBef>
                <a:spcPct val="0"/>
              </a:spcBef>
            </a:pPr>
            <a:r>
              <a:rPr lang="en-US" b="true" sz="12236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C</a:t>
            </a:r>
            <a:r>
              <a:rPr lang="en-US" b="true" sz="12236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INEMASTER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4242" y="547605"/>
            <a:ext cx="147236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50909" y="8777205"/>
            <a:ext cx="182666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43154" y="547605"/>
            <a:ext cx="12242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58980" y="547605"/>
            <a:ext cx="13524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93605" y="547605"/>
            <a:ext cx="144424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10862" y="547605"/>
            <a:ext cx="16812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96805"/>
            <a:ext cx="2816920" cy="40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974" r="0" b="-784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1551" y="430365"/>
            <a:ext cx="1917749" cy="598335"/>
            <a:chOff x="0" y="0"/>
            <a:chExt cx="869655" cy="27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655" cy="271331"/>
            </a:xfrm>
            <a:custGeom>
              <a:avLst/>
              <a:gdLst/>
              <a:ahLst/>
              <a:cxnLst/>
              <a:rect r="r" b="b" t="t" l="l"/>
              <a:pathLst>
                <a:path h="271331" w="869655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64434" y="8659965"/>
            <a:ext cx="2399617" cy="598335"/>
            <a:chOff x="0" y="0"/>
            <a:chExt cx="1088172" cy="271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172" cy="271331"/>
            </a:xfrm>
            <a:custGeom>
              <a:avLst/>
              <a:gdLst/>
              <a:ahLst/>
              <a:cxnLst/>
              <a:rect r="r" b="b" t="t" l="l"/>
              <a:pathLst>
                <a:path h="271331" w="1088172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36609" y="8659965"/>
            <a:ext cx="608562" cy="598335"/>
            <a:chOff x="0" y="0"/>
            <a:chExt cx="275969" cy="271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9" cy="271331"/>
            </a:xfrm>
            <a:custGeom>
              <a:avLst/>
              <a:gdLst/>
              <a:ahLst/>
              <a:cxnLst/>
              <a:rect r="r" b="b" t="t" l="l"/>
              <a:pathLst>
                <a:path h="271331" w="275969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8726502">
            <a:off x="17202081" y="8845309"/>
            <a:ext cx="277618" cy="227646"/>
          </a:xfrm>
          <a:custGeom>
            <a:avLst/>
            <a:gdLst/>
            <a:ahLst/>
            <a:cxnLst/>
            <a:rect r="r" b="b" t="t" l="l"/>
            <a:pathLst>
              <a:path h="227646" w="277618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50566" y="2971632"/>
            <a:ext cx="14882993" cy="537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5038" b="true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PHASE I: </a:t>
            </a:r>
          </a:p>
          <a:p>
            <a:pPr algn="l">
              <a:lnSpc>
                <a:spcPts val="7053"/>
              </a:lnSpc>
              <a:spcBef>
                <a:spcPct val="0"/>
              </a:spcBef>
            </a:pPr>
            <a:r>
              <a:rPr lang="en-US" sz="5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PREPARE SCENARIO THAT DESCRIBES THE PROPOSED SYSTEM, ITS OBJECTIVES AND FUNCTIONALITY AS WELL AS THE DATA NEEDED FOR IT AND CREATE AN ERD FOR THAT.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64242" y="547605"/>
            <a:ext cx="147236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50909" y="8777205"/>
            <a:ext cx="182666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43154" y="547605"/>
            <a:ext cx="12242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8980" y="547605"/>
            <a:ext cx="13524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93605" y="547605"/>
            <a:ext cx="144424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10862" y="547605"/>
            <a:ext cx="16812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96805"/>
            <a:ext cx="2816920" cy="40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570796" y="9346081"/>
            <a:ext cx="1866309" cy="0"/>
          </a:xfrm>
          <a:prstGeom prst="line">
            <a:avLst/>
          </a:prstGeom>
          <a:ln cap="flat" w="38100">
            <a:solidFill>
              <a:srgbClr val="F129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0796" y="1978512"/>
            <a:ext cx="17146408" cy="699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movie is identified by a unique movie ID. Each movie has a title, duration, release date, category, and rating.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movie can be shown in one or more showtimes. Each showtime has a unique number, a show date, and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a show  time.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Each showtime is scheduled in exactly one hall. A hall is identified by a hall number and has a hall name and a seating capacity.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If a hall is removed from the system, the showtimes inside it are removed as well since they depend on the hall.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Customers can purchase tickets for a showtime. A ticket has a ticket number, a seat number, price, and date of purchase.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customer may buy many tickets for different showtimes, and a single showtime may have many tickets sold to different customers.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customer is identified by a customer ID and has a name, phone number, and registration date.</a:t>
            </a:r>
          </a:p>
          <a:p>
            <a:pPr algn="l">
              <a:lnSpc>
                <a:spcPts val="3499"/>
              </a:lnSpc>
            </a:pPr>
            <a:r>
              <a:rPr lang="en-US" sz="2499" spc="14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For reporting, a cinema must be able to show which movies</a:t>
            </a:r>
            <a:r>
              <a:rPr lang="en-US" b="true" sz="2499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are available on a certain date and the total number of tickets sold for each movie.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70796" y="1181288"/>
            <a:ext cx="16531671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1293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Consider the following information</a:t>
            </a:r>
            <a:r>
              <a:rPr lang="en-US" b="true" sz="2799">
                <a:solidFill>
                  <a:srgbClr val="F1293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about a cinema database: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1332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9174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76636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56818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6843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7077" y="1084642"/>
            <a:ext cx="15693845" cy="8117715"/>
          </a:xfrm>
          <a:custGeom>
            <a:avLst/>
            <a:gdLst/>
            <a:ahLst/>
            <a:cxnLst/>
            <a:rect r="r" b="b" t="t" l="l"/>
            <a:pathLst>
              <a:path h="8117715" w="15693845">
                <a:moveTo>
                  <a:pt x="0" y="0"/>
                </a:moveTo>
                <a:lnTo>
                  <a:pt x="15693846" y="0"/>
                </a:lnTo>
                <a:lnTo>
                  <a:pt x="15693846" y="8117716"/>
                </a:lnTo>
                <a:lnTo>
                  <a:pt x="0" y="8117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44" r="0" b="-396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974" r="0" b="-784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1551" y="430365"/>
            <a:ext cx="1917749" cy="598335"/>
            <a:chOff x="0" y="0"/>
            <a:chExt cx="869655" cy="27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655" cy="271331"/>
            </a:xfrm>
            <a:custGeom>
              <a:avLst/>
              <a:gdLst/>
              <a:ahLst/>
              <a:cxnLst/>
              <a:rect r="r" b="b" t="t" l="l"/>
              <a:pathLst>
                <a:path h="271331" w="869655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64434" y="8659965"/>
            <a:ext cx="2399617" cy="598335"/>
            <a:chOff x="0" y="0"/>
            <a:chExt cx="1088172" cy="271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172" cy="271331"/>
            </a:xfrm>
            <a:custGeom>
              <a:avLst/>
              <a:gdLst/>
              <a:ahLst/>
              <a:cxnLst/>
              <a:rect r="r" b="b" t="t" l="l"/>
              <a:pathLst>
                <a:path h="271331" w="1088172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36609" y="8659965"/>
            <a:ext cx="608562" cy="598335"/>
            <a:chOff x="0" y="0"/>
            <a:chExt cx="275969" cy="271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9" cy="271331"/>
            </a:xfrm>
            <a:custGeom>
              <a:avLst/>
              <a:gdLst/>
              <a:ahLst/>
              <a:cxnLst/>
              <a:rect r="r" b="b" t="t" l="l"/>
              <a:pathLst>
                <a:path h="271331" w="275969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8726502">
            <a:off x="17202081" y="8845309"/>
            <a:ext cx="277618" cy="227646"/>
          </a:xfrm>
          <a:custGeom>
            <a:avLst/>
            <a:gdLst/>
            <a:ahLst/>
            <a:cxnLst/>
            <a:rect r="r" b="b" t="t" l="l"/>
            <a:pathLst>
              <a:path h="227646" w="277618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50566" y="2313788"/>
            <a:ext cx="14882993" cy="643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3"/>
              </a:lnSpc>
            </a:pPr>
            <a:r>
              <a:rPr lang="en-US" sz="4038" b="true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PHASE II: </a:t>
            </a:r>
          </a:p>
          <a:p>
            <a:pPr algn="l">
              <a:lnSpc>
                <a:spcPts val="5653"/>
              </a:lnSpc>
            </a:pPr>
            <a:r>
              <a:rPr lang="en-US" sz="4038" b="true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MAP THE ERD INTO RELATIONAL DATABASE:</a:t>
            </a:r>
          </a:p>
          <a:p>
            <a:pPr algn="l" marL="871812" indent="-435906" lvl="1">
              <a:lnSpc>
                <a:spcPts val="5653"/>
              </a:lnSpc>
              <a:buFont typeface="Arial"/>
              <a:buChar char="•"/>
            </a:pPr>
            <a:r>
              <a:rPr lang="en-US" sz="4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DESIGN THE TABLES.</a:t>
            </a:r>
          </a:p>
          <a:p>
            <a:pPr algn="l" marL="871812" indent="-435906" lvl="1">
              <a:lnSpc>
                <a:spcPts val="5653"/>
              </a:lnSpc>
              <a:buFont typeface="Arial"/>
              <a:buChar char="•"/>
            </a:pPr>
            <a:r>
              <a:rPr lang="en-US" sz="4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IDENTIFY TABLES COLUMNS (ATTRIBUTES) WITH THEIR DATA TYPE, SIZE, NULL CONSTRAINT, DOMAIN CONSTRAINT AND PRIMARY KEY.</a:t>
            </a:r>
          </a:p>
          <a:p>
            <a:pPr algn="l" marL="871812" indent="-435906" lvl="1">
              <a:lnSpc>
                <a:spcPts val="5653"/>
              </a:lnSpc>
              <a:buFont typeface="Arial"/>
              <a:buChar char="•"/>
            </a:pPr>
            <a:r>
              <a:rPr lang="en-US" sz="4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IDENTIFY REFERENTIAL INTEGRITY CONSTRAINTS (I.E. IDENTIFY FOREIGN KEYS BETWEEN TABLES).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64242" y="547605"/>
            <a:ext cx="147236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50909" y="8777205"/>
            <a:ext cx="182666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43154" y="547605"/>
            <a:ext cx="12242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8980" y="547605"/>
            <a:ext cx="13524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93605" y="547605"/>
            <a:ext cx="144424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10862" y="547605"/>
            <a:ext cx="16812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96805"/>
            <a:ext cx="2816920" cy="40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1332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9174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76636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56818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6843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9174" y="1765996"/>
            <a:ext cx="17187619" cy="5922711"/>
          </a:xfrm>
          <a:custGeom>
            <a:avLst/>
            <a:gdLst/>
            <a:ahLst/>
            <a:cxnLst/>
            <a:rect r="r" b="b" t="t" l="l"/>
            <a:pathLst>
              <a:path h="5922711" w="17187619">
                <a:moveTo>
                  <a:pt x="0" y="0"/>
                </a:moveTo>
                <a:lnTo>
                  <a:pt x="17187619" y="0"/>
                </a:lnTo>
                <a:lnTo>
                  <a:pt x="17187619" y="5922710"/>
                </a:lnTo>
                <a:lnTo>
                  <a:pt x="0" y="5922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0" t="0" r="-124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1332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9174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76636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56818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6843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2690" y="1028700"/>
            <a:ext cx="17403417" cy="7179168"/>
          </a:xfrm>
          <a:custGeom>
            <a:avLst/>
            <a:gdLst/>
            <a:ahLst/>
            <a:cxnLst/>
            <a:rect r="r" b="b" t="t" l="l"/>
            <a:pathLst>
              <a:path h="7179168" w="17403417">
                <a:moveTo>
                  <a:pt x="0" y="0"/>
                </a:moveTo>
                <a:lnTo>
                  <a:pt x="17403418" y="0"/>
                </a:lnTo>
                <a:lnTo>
                  <a:pt x="17403418" y="7179168"/>
                </a:lnTo>
                <a:lnTo>
                  <a:pt x="0" y="7179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28" t="0" r="-13024" b="-2215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974" r="0" b="-784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1551" y="430365"/>
            <a:ext cx="1917749" cy="598335"/>
            <a:chOff x="0" y="0"/>
            <a:chExt cx="869655" cy="27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655" cy="271331"/>
            </a:xfrm>
            <a:custGeom>
              <a:avLst/>
              <a:gdLst/>
              <a:ahLst/>
              <a:cxnLst/>
              <a:rect r="r" b="b" t="t" l="l"/>
              <a:pathLst>
                <a:path h="271331" w="869655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64434" y="8659965"/>
            <a:ext cx="2399617" cy="598335"/>
            <a:chOff x="0" y="0"/>
            <a:chExt cx="1088172" cy="2713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172" cy="271331"/>
            </a:xfrm>
            <a:custGeom>
              <a:avLst/>
              <a:gdLst/>
              <a:ahLst/>
              <a:cxnLst/>
              <a:rect r="r" b="b" t="t" l="l"/>
              <a:pathLst>
                <a:path h="271331" w="1088172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036609" y="8659965"/>
            <a:ext cx="608562" cy="598335"/>
            <a:chOff x="0" y="0"/>
            <a:chExt cx="275969" cy="271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5969" cy="271331"/>
            </a:xfrm>
            <a:custGeom>
              <a:avLst/>
              <a:gdLst/>
              <a:ahLst/>
              <a:cxnLst/>
              <a:rect r="r" b="b" t="t" l="l"/>
              <a:pathLst>
                <a:path h="271331" w="275969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8726502">
            <a:off x="17202081" y="8845309"/>
            <a:ext cx="277618" cy="227646"/>
          </a:xfrm>
          <a:custGeom>
            <a:avLst/>
            <a:gdLst/>
            <a:ahLst/>
            <a:cxnLst/>
            <a:rect r="r" b="b" t="t" l="l"/>
            <a:pathLst>
              <a:path h="227646" w="277618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7433" y="2012881"/>
            <a:ext cx="14882993" cy="703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3"/>
              </a:lnSpc>
            </a:pPr>
            <a:r>
              <a:rPr lang="en-US" sz="3638" b="true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PHASE III: </a:t>
            </a:r>
          </a:p>
          <a:p>
            <a:pPr algn="l">
              <a:lnSpc>
                <a:spcPts val="5093"/>
              </a:lnSpc>
            </a:pPr>
            <a:r>
              <a:rPr lang="en-US" sz="3638" b="true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WRITE SQL QUERIES THAT: </a:t>
            </a:r>
          </a:p>
          <a:p>
            <a:pPr algn="l" marL="785454" indent="-392727" lvl="1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CREATE THE DATABASE. </a:t>
            </a:r>
          </a:p>
          <a:p>
            <a:pPr algn="l" marL="785454" indent="-392727" lvl="1">
              <a:lnSpc>
                <a:spcPts val="5093"/>
              </a:lnSpc>
              <a:buFont typeface="Arial"/>
              <a:buChar char="•"/>
            </a:pPr>
            <a:r>
              <a:rPr lang="en-US" b="true" sz="3638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 </a:t>
            </a: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CREATE THE TABLES. </a:t>
            </a:r>
          </a:p>
          <a:p>
            <a:pPr algn="l" marL="785454" indent="-392727" lvl="1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CREATE PRIMARY KEYS, FOREIGN KEYS AND ANY OTHER CONSTRAINTS. </a:t>
            </a:r>
          </a:p>
          <a:p>
            <a:pPr algn="l" marL="785454" indent="-392727" lvl="1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INSERT SAMPLE DATA TO DIFFERENT TABLES.</a:t>
            </a:r>
          </a:p>
          <a:p>
            <a:pPr algn="l" marL="785454" indent="-392727" lvl="1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RETRIEVE (SELECT) SOME DATA FROM SINGLE TABLE AND FROM MULTI TABLES. </a:t>
            </a:r>
          </a:p>
          <a:p>
            <a:pPr algn="l" marL="785454" indent="-392727" lvl="1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RETRIEVE SOME AGGREGATE DATA SUCH AS SUM, AVERAGE, MINIMUM AND MAXIMUM.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64242" y="547605"/>
            <a:ext cx="147236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50909" y="8777205"/>
            <a:ext cx="182666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43154" y="547605"/>
            <a:ext cx="12242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8980" y="547605"/>
            <a:ext cx="13524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93605" y="547605"/>
            <a:ext cx="144424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10862" y="547605"/>
            <a:ext cx="16812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96805"/>
            <a:ext cx="2816920" cy="40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796" y="1260781"/>
            <a:ext cx="17595603" cy="808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DATABASE CinemaDB;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USE CinemaDB;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Movies (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MovieID INT IDENTITY(1,1),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Title VARCHAR(100)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Duration INT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ReleaseDate DATE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Category VARCHAR(50),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Rating DECIMAL(3,1) CHECK (Rating BETWEEN 0 AND 10),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PK_Movies PRIMARY KEY (MovieID)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Halls (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HallNumber INT,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HallName VARCHAR(50)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SeatingCapacity INT CHECK (SeatingCapacity &gt; 0),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PK_Halls PRIMARY KEY (HallNumber)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96805"/>
            <a:ext cx="17595603" cy="943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ShowTimes (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ShowTimeID INT IDENTITY(1,1),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MovieID INT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HallNumber INT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ShowDate DATE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ShowTime TIME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PK_ShowTimes PRIMARY KEY (ShowTimeID),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FK_ShowTimes_Movies FOREIGN KEY (MovieID)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Movies(MovieID),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FK_ShowTimes_Halls FOREIGN KEY (HallNumber)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Halls(HallNumber)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ON DELETE CASCADE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Customers (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CustomerID INT IDENTITY(1,1),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CustomerName VARCHAR(100)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PhoneNumber VARCHAR(20),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RegistrationDate DATE NOT NULL,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PK_Customers PRIMARY KEY (CustomerID)</a:t>
            </a:r>
          </a:p>
          <a:p>
            <a:pPr algn="l">
              <a:lnSpc>
                <a:spcPts val="3591"/>
              </a:lnSpc>
            </a:pPr>
            <a:r>
              <a:rPr lang="en-US" sz="2565" spc="15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2397" y="1543385"/>
            <a:ext cx="17595603" cy="707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Tickets (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TicketNumber INT IDENTITY(1,1),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ShowTimeID INT NOT NULL,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CustomerID INT NOT NULL,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SeatNumber VARCHAR(10) NOT NULL,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Price DECIMAL(6,2) CHECK (Price &gt; 0),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PurchaseDate DATE NOT NULL,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PK_Tickets PRIMARY KEY (TicketNumber),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FK_Tickets_ShowTimes FOREIGN KEY (ShowTimeID)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ShowTimes(ShowTimeID),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FK_Tickets_Customers FOREIGN KEY (CustomerID)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Customers(CustomerID)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401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2397" y="1163475"/>
            <a:ext cx="17595603" cy="874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Movies (Title, Duration, ReleaseDate, Category, Rating)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('Inception', 148, '2010-07-16', 'Sci-Fi', 8.8),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('Avata</a:t>
            </a: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r', 162, '2009-12-18', 'Action', 7.9),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('Inte</a:t>
            </a: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rstellar', 169, '2014-11-07', 'Sci-Fi', 8.6);</a:t>
            </a:r>
          </a:p>
          <a:p>
            <a:pPr algn="l">
              <a:lnSpc>
                <a:spcPts val="3871"/>
              </a:lnSpc>
            </a:pP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Halls (HallNumber, HallName, SeatingCapacity)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</a:t>
            </a: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'Main Hall', 200),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(2, 'VIP Hall', 100);</a:t>
            </a:r>
          </a:p>
          <a:p>
            <a:pPr algn="l">
              <a:lnSpc>
                <a:spcPts val="3871"/>
              </a:lnSpc>
            </a:pP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ShowTimes (MovieID, HallNumber, ShowDate, ShowTime)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1, '2025-01-10', '18:00'),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2, '2025-01-10', '21:00'),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(2, 1, '2025-01-11', '19:00'),</a:t>
            </a:r>
          </a:p>
          <a:p>
            <a:pPr algn="l">
              <a:lnSpc>
                <a:spcPts val="3871"/>
              </a:lnSpc>
            </a:pPr>
            <a:r>
              <a:rPr lang="en-US" sz="2765" spc="16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(3, 2, '2025-01-11', '20:30');</a:t>
            </a:r>
          </a:p>
          <a:p>
            <a:pPr algn="l">
              <a:lnSpc>
                <a:spcPts val="387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2397" y="1952482"/>
            <a:ext cx="17595603" cy="707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Customers (CustomerName, PhoneNumber, RegistrationDate)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('Ahmad Ali', '0791111111', '2024-12-01'),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('Sara Khaled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', '0782222222', '2024-12-05'),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('Oma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 Hassan', '0773333333', '2024-12-10');</a:t>
            </a:r>
          </a:p>
          <a:p>
            <a:pPr algn="l">
              <a:lnSpc>
                <a:spcPts val="4011"/>
              </a:lnSpc>
            </a:pP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Tickets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(ShowTimeID, CustomerID, SeatNumber, Price, PurchaseDate)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1, 'A1', 8.00, '2025-01-05'),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2, 'A2', 8.00, '2025-01-05'),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(2, 1, 'B1', 10.00, '2025-01-06'),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(3, 3, 'C5', 7.50, '2025-01-07'),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(4, 2, 'D3', 9.00, '2025-01-08');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2397" y="1569916"/>
            <a:ext cx="17595603" cy="707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* FROM Movies;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* FROM Customers;</a:t>
            </a:r>
          </a:p>
          <a:p>
            <a:pPr algn="l">
              <a:lnSpc>
                <a:spcPts val="4011"/>
              </a:lnSpc>
            </a:pP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Movies.Title,ShowTimes.ShowDate,ShowTimes.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ShowTime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,Halls.HallName 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ROM ShowTimes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Movies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ON ShowTimes.MovieID = Movies.MovieID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Halls ON ShowTimes.HallNumber = Halls.HallNumber;</a:t>
            </a:r>
          </a:p>
          <a:p>
            <a:pPr algn="l">
              <a:lnSpc>
                <a:spcPts val="4011"/>
              </a:lnSpc>
            </a:pP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Movies.Title, COUNT(Tickets.TicketNumber) AS TotalTicketsSold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Movies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ShowTimes ON Movies.MovieID = ShowTimes.MovieID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LEFT JOIN Tickets ON ShowTimes.ShowTimeID = Tickets.ShowTimeID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GROUP BY Movies.Title; </a:t>
            </a:r>
          </a:p>
          <a:p>
            <a:pPr algn="l">
              <a:lnSpc>
                <a:spcPts val="4011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00000">
            <a:off x="14969966" y="903785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-2902668" y="-122869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2397" y="1177683"/>
            <a:ext cx="17595603" cy="808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AVG(Price) AS AverageTicketPrice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Tickets;</a:t>
            </a:r>
          </a:p>
          <a:p>
            <a:pPr algn="l">
              <a:lnSpc>
                <a:spcPts val="4011"/>
              </a:lnSpc>
            </a:pP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MIN(Price) AS MinPrice, MAX(Price) A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 M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axPrice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ROM Tickets;</a:t>
            </a:r>
          </a:p>
          <a:p>
            <a:pPr algn="l">
              <a:lnSpc>
                <a:spcPts val="4011"/>
              </a:lnSpc>
            </a:pP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SUM(Price)</a:t>
            </a: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AS TotalRevenue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Tickets;</a:t>
            </a:r>
          </a:p>
          <a:p>
            <a:pPr algn="l">
              <a:lnSpc>
                <a:spcPts val="4011"/>
              </a:lnSpc>
            </a:pP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Movies.Title, ShowTimes.ShowDate,COUNT(Tickets.TicketNumber) AS TicketsSold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Movies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ShowTimes ON Movies.MovieID = ShowTimes.MovieID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LEFT JOIN Tickets ON ShowTimes.ShowTimeID = Tickets.ShowTimeID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WHERE ShowTimes.ShowDate = '2025-01-10'</a:t>
            </a:r>
          </a:p>
          <a:p>
            <a:pPr algn="l">
              <a:lnSpc>
                <a:spcPts val="4011"/>
              </a:lnSpc>
            </a:pPr>
            <a:r>
              <a:rPr lang="en-US" sz="2865" spc="17" b="true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GROUP BY Movies.Title, ShowTimes.ShowDate;</a:t>
            </a:r>
          </a:p>
          <a:p>
            <a:pPr algn="l">
              <a:lnSpc>
                <a:spcPts val="4011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1332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9174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76636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56818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6843" y="9610176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75200" y="676824"/>
            <a:ext cx="7537600" cy="8581476"/>
          </a:xfrm>
          <a:custGeom>
            <a:avLst/>
            <a:gdLst/>
            <a:ahLst/>
            <a:cxnLst/>
            <a:rect r="r" b="b" t="t" l="l"/>
            <a:pathLst>
              <a:path h="8581476" w="7537600">
                <a:moveTo>
                  <a:pt x="0" y="0"/>
                </a:moveTo>
                <a:lnTo>
                  <a:pt x="7537600" y="0"/>
                </a:lnTo>
                <a:lnTo>
                  <a:pt x="7537600" y="8581476"/>
                </a:lnTo>
                <a:lnTo>
                  <a:pt x="0" y="8581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5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1551" y="430365"/>
            <a:ext cx="1917749" cy="598335"/>
            <a:chOff x="0" y="0"/>
            <a:chExt cx="869655" cy="27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9655" cy="271331"/>
            </a:xfrm>
            <a:custGeom>
              <a:avLst/>
              <a:gdLst/>
              <a:ahLst/>
              <a:cxnLst/>
              <a:rect r="r" b="b" t="t" l="l"/>
              <a:pathLst>
                <a:path h="271331" w="869655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241332" y="9258300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5018" y="9258300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751297" y="9258300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20975" y="9258300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00618" y="9258300"/>
            <a:ext cx="5805336" cy="1353648"/>
          </a:xfrm>
          <a:custGeom>
            <a:avLst/>
            <a:gdLst/>
            <a:ahLst/>
            <a:cxnLst/>
            <a:rect r="r" b="b" t="t" l="l"/>
            <a:pathLst>
              <a:path h="1353648" w="5805336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63406" y="3689472"/>
            <a:ext cx="13161188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b="true" sz="12000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4242" y="547605"/>
            <a:ext cx="1472367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43154" y="547605"/>
            <a:ext cx="122425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8980" y="547605"/>
            <a:ext cx="13524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93605" y="547605"/>
            <a:ext cx="144424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0862" y="547605"/>
            <a:ext cx="16812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96805"/>
            <a:ext cx="2816920" cy="40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DAG5geWqp_E</dc:identifier>
  <dcterms:modified xsi:type="dcterms:W3CDTF">2011-08-01T06:04:30Z</dcterms:modified>
  <cp:revision>1</cp:revision>
  <dc:title>Red Vintage Movie Presentation</dc:title>
</cp:coreProperties>
</file>